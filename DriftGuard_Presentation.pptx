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PS-02 Minimum Target</c:v>
                </c:pt>
              </c:strCache>
            </c:strRef>
          </c:tx>
          <c:spPr>
            <a:solidFill>
              <a:srgbClr val="3741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Detection Rate</c:v>
                  </c:pt>
                  <c:pt idx="1">
                    <c:v>Accuracy (1-FPR)</c:v>
                  </c:pt>
                  <c:pt idx="2">
                    <c:v>Precision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85</c:v>
                </c:pt>
                <c:pt idx="2">
                  <c:v>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DriftGuard</c:v>
                </c:pt>
              </c:strCache>
            </c:strRef>
          </c:tx>
          <c:spPr>
            <a:solidFill>
              <a:srgbClr val="2FD4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Detection Rate</c:v>
                  </c:pt>
                  <c:pt idx="1">
                    <c:v>Accuracy (1-FPR)</c:v>
                  </c:pt>
                  <c:pt idx="2">
                    <c:v>Precision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95.7</c:v>
                </c:pt>
                <c:pt idx="1">
                  <c:v>95.2</c:v>
                </c:pt>
                <c:pt idx="2">
                  <c:v>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EF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1B2E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295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111D2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293D"/>
          </a:solidFill>
          <a:ln w="12700">
            <a:solidFill>
              <a:srgbClr val="E929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82296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DriftGuard</a:t>
            </a:r>
            <a:endParaRPr lang="en-US" sz="6400" dirty="0"/>
          </a:p>
        </p:txBody>
      </p:sp>
      <p:sp>
        <p:nvSpPr>
          <p:cNvPr id="24" name="Text 22"/>
          <p:cNvSpPr/>
          <p:nvPr/>
        </p:nvSpPr>
        <p:spPr>
          <a:xfrm>
            <a:off x="457200" y="19202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8AFF"/>
                </a:solidFill>
              </a:rPr>
              <a:t>Security Control Drift &amp; Misconfiguration Detection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7200" y="2468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295AE"/>
                </a:solidFill>
              </a:rPr>
              <a:t>PS-02  ·  Société Générale Hackathon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200400"/>
            <a:ext cx="1920240" cy="1463040"/>
          </a:xfrm>
          <a:prstGeom prst="rect">
            <a:avLst/>
          </a:prstGeom>
          <a:solidFill>
            <a:srgbClr val="111D2B"/>
          </a:solidFill>
          <a:ln w="19050">
            <a:solidFill>
              <a:srgbClr val="2FD4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200400"/>
            <a:ext cx="1920240" cy="45720"/>
          </a:xfrm>
          <a:prstGeom prst="rect">
            <a:avLst/>
          </a:prstGeom>
          <a:solidFill>
            <a:srgbClr val="2FD48F"/>
          </a:solidFill>
          <a:ln w="12700">
            <a:solidFill>
              <a:srgbClr val="2FD4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310128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D48F"/>
                </a:solidFill>
              </a:rPr>
              <a:t>95.7%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48640" y="3902659"/>
            <a:ext cx="1737360" cy="409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EF7"/>
                </a:solidFill>
              </a:rPr>
              <a:t>Detection Rate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06040" y="3200400"/>
            <a:ext cx="1920240" cy="1463040"/>
          </a:xfrm>
          <a:prstGeom prst="rect">
            <a:avLst/>
          </a:prstGeom>
          <a:solidFill>
            <a:srgbClr val="111D2B"/>
          </a:solidFill>
          <a:ln w="19050">
            <a:solidFill>
              <a:srgbClr val="5B8A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606040" y="3200400"/>
            <a:ext cx="1920240" cy="45720"/>
          </a:xfrm>
          <a:prstGeom prst="rect">
            <a:avLst/>
          </a:prstGeom>
          <a:solidFill>
            <a:srgbClr val="5B8AFF"/>
          </a:solidFill>
          <a:ln w="12700">
            <a:solidFill>
              <a:srgbClr val="5B8A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97480" y="3310128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8AFF"/>
                </a:solidFill>
              </a:rPr>
              <a:t>4.8%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2697480" y="3902659"/>
            <a:ext cx="1737360" cy="409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EF7"/>
                </a:solidFill>
              </a:rPr>
              <a:t>False Positive Rate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200400"/>
            <a:ext cx="1920240" cy="1463040"/>
          </a:xfrm>
          <a:prstGeom prst="rect">
            <a:avLst/>
          </a:prstGeom>
          <a:solidFill>
            <a:srgbClr val="111D2B"/>
          </a:solidFill>
          <a:ln w="19050">
            <a:solidFill>
              <a:srgbClr val="FFB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200400"/>
            <a:ext cx="1920240" cy="4572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310128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020"/>
                </a:solidFill>
              </a:rPr>
              <a:t>94.0%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4846320" y="3902659"/>
            <a:ext cx="1737360" cy="409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EF7"/>
                </a:solidFill>
              </a:rPr>
              <a:t>Precision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03720" y="3200400"/>
            <a:ext cx="1920240" cy="1463040"/>
          </a:xfrm>
          <a:prstGeom prst="rect">
            <a:avLst/>
          </a:prstGeom>
          <a:solidFill>
            <a:srgbClr val="111D2B"/>
          </a:solidFill>
          <a:ln w="19050">
            <a:solidFill>
              <a:srgbClr val="E929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903720" y="3200400"/>
            <a:ext cx="1920240" cy="45720"/>
          </a:xfrm>
          <a:prstGeom prst="rect">
            <a:avLst/>
          </a:prstGeom>
          <a:solidFill>
            <a:srgbClr val="E9293D"/>
          </a:solidFill>
          <a:ln w="12700">
            <a:solidFill>
              <a:srgbClr val="E929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95160" y="3310128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293D"/>
                </a:solidFill>
              </a:rPr>
              <a:t>&lt;200ms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6995160" y="3902659"/>
            <a:ext cx="1737360" cy="409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EF7"/>
                </a:solidFill>
              </a:rPr>
              <a:t>Time Lag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5AE"/>
                </a:solidFill>
              </a:rPr>
              <a:t>1 / 13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79576" cy="256032"/>
          </a:xfrm>
          <a:prstGeom prst="roundRect">
            <a:avLst>
              <a:gd name="adj" fmla="val 21429"/>
            </a:avLst>
          </a:prstGeom>
          <a:solidFill>
            <a:srgbClr val="5B8AFF">
              <a:alpha val="30000"/>
            </a:srgbClr>
          </a:solidFill>
          <a:ln w="12700">
            <a:solidFill>
              <a:srgbClr val="5B8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8AFF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Configuration Drift is Critical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200400" cy="3200400"/>
          </a:xfrm>
          <a:prstGeom prst="rect">
            <a:avLst/>
          </a:prstGeom>
          <a:solidFill>
            <a:srgbClr val="111D2B"/>
          </a:solidFill>
          <a:ln w="19050">
            <a:solidFill>
              <a:srgbClr val="E929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544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92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7"/>
                </a:solidFill>
              </a:rPr>
              <a:t>of breaches originate from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EF7"/>
                </a:solidFill>
              </a:rPr>
              <a:t>misconfigured controls,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EF7"/>
                </a:solidFill>
              </a:rPr>
              <a:t>not missing ones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0" y="1280160"/>
            <a:ext cx="2423160" cy="1554480"/>
          </a:xfrm>
          <a:prstGeom prst="rect">
            <a:avLst/>
          </a:prstGeom>
          <a:solidFill>
            <a:srgbClr val="111D2B"/>
          </a:solidFill>
          <a:ln w="12700">
            <a:solidFill>
              <a:srgbClr val="E929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0" y="1280160"/>
            <a:ext cx="54864" cy="1554480"/>
          </a:xfrm>
          <a:prstGeom prst="rect">
            <a:avLst/>
          </a:prstGeom>
          <a:solidFill>
            <a:srgbClr val="E9293D"/>
          </a:solidFill>
          <a:ln w="12700">
            <a:solidFill>
              <a:srgbClr val="E929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05072" y="13533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[!]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005072" y="1719072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293D"/>
                </a:solidFill>
              </a:rPr>
              <a:t>Existing tools only detect change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05072" y="1993392"/>
            <a:ext cx="21671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5AE"/>
                </a:solidFill>
              </a:rPr>
              <a:t>Not whether the change is dangerous — every CI/CD deployment would trigger an alert.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446520" y="1280160"/>
            <a:ext cx="2423160" cy="1554480"/>
          </a:xfrm>
          <a:prstGeom prst="rect">
            <a:avLst/>
          </a:prstGeom>
          <a:solidFill>
            <a:srgbClr val="111D2B"/>
          </a:solidFill>
          <a:ln w="12700">
            <a:solidFill>
              <a:srgbClr val="E929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6520" y="1280160"/>
            <a:ext cx="54864" cy="1554480"/>
          </a:xfrm>
          <a:prstGeom prst="rect">
            <a:avLst/>
          </a:prstGeom>
          <a:solidFill>
            <a:srgbClr val="E9293D"/>
          </a:solidFill>
          <a:ln w="12700">
            <a:solidFill>
              <a:srgbClr val="E929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11112" y="13533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[T]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11112" y="1719072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293D"/>
                </a:solidFill>
              </a:rPr>
              <a:t>Detection lag exceeds 1 hour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11112" y="1993392"/>
            <a:ext cx="21671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5AE"/>
                </a:solidFill>
              </a:rPr>
              <a:t>PS-02 specifies a &lt;1 hour target. Most SIEM-based approaches run hourly batch jobs at best.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40480" y="3017520"/>
            <a:ext cx="2423160" cy="1554480"/>
          </a:xfrm>
          <a:prstGeom prst="rect">
            <a:avLst/>
          </a:prstGeom>
          <a:solidFill>
            <a:srgbClr val="111D2B"/>
          </a:solidFill>
          <a:ln w="12700">
            <a:solidFill>
              <a:srgbClr val="E929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0" y="3017520"/>
            <a:ext cx="54864" cy="1554480"/>
          </a:xfrm>
          <a:prstGeom prst="rect">
            <a:avLst/>
          </a:prstGeom>
          <a:solidFill>
            <a:srgbClr val="E9293D"/>
          </a:solidFill>
          <a:ln w="12700">
            <a:solidFill>
              <a:srgbClr val="E929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05072" y="30906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[?]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005072" y="3456432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293D"/>
                </a:solidFill>
              </a:rPr>
              <a:t>No explainability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05072" y="3730752"/>
            <a:ext cx="21671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5AE"/>
                </a:solidFill>
              </a:rPr>
              <a:t>Black-box ML scores give analysts nothing to act on. Every alert needs a human-readable reason.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446520" y="3017520"/>
            <a:ext cx="2423160" cy="1554480"/>
          </a:xfrm>
          <a:prstGeom prst="rect">
            <a:avLst/>
          </a:prstGeom>
          <a:solidFill>
            <a:srgbClr val="111D2B"/>
          </a:solidFill>
          <a:ln w="12700">
            <a:solidFill>
              <a:srgbClr val="E929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46520" y="3017520"/>
            <a:ext cx="54864" cy="1554480"/>
          </a:xfrm>
          <a:prstGeom prst="rect">
            <a:avLst/>
          </a:prstGeom>
          <a:solidFill>
            <a:srgbClr val="E9293D"/>
          </a:solidFill>
          <a:ln w="12700">
            <a:solidFill>
              <a:srgbClr val="E929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11112" y="30906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[C]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611112" y="3456432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293D"/>
                </a:solidFill>
              </a:rPr>
              <a:t>No compliance context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11112" y="3730752"/>
            <a:ext cx="21671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5AE"/>
                </a:solidFill>
              </a:rPr>
              <a:t>Security teams need to know which NIST/GDPR/PCI-DSS control was violated, not just a risk score.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5AE"/>
                </a:solidFill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932688" cy="256032"/>
          </a:xfrm>
          <a:prstGeom prst="roundRect">
            <a:avLst>
              <a:gd name="adj" fmla="val 21429"/>
            </a:avLst>
          </a:prstGeom>
          <a:solidFill>
            <a:srgbClr val="5B8AFF">
              <a:alpha val="30000"/>
            </a:srgbClr>
          </a:solidFill>
          <a:ln w="12700">
            <a:solidFill>
              <a:srgbClr val="5B8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8AFF"/>
                </a:solidFill>
              </a:rPr>
              <a:t>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DriftGuard: Hybrid AI Drift-Intelligence Platform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8AFF"/>
                </a:solidFill>
              </a:rPr>
              <a:t>"Is this change dangerous?" — not just "did it change?"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651760" cy="3017520"/>
          </a:xfrm>
          <a:prstGeom prst="rect">
            <a:avLst/>
          </a:prstGeom>
          <a:solidFill>
            <a:srgbClr val="111D2B"/>
          </a:solidFill>
          <a:ln w="25400">
            <a:solidFill>
              <a:srgbClr val="5B8A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91640"/>
            <a:ext cx="2651760" cy="64008"/>
          </a:xfrm>
          <a:prstGeom prst="rect">
            <a:avLst/>
          </a:prstGeom>
          <a:solidFill>
            <a:srgbClr val="5B8AFF"/>
          </a:solidFill>
          <a:ln w="12700">
            <a:solidFill>
              <a:srgbClr val="5B8A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105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[R]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8AFF"/>
                </a:solidFill>
              </a:rPr>
              <a:t>Explainable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5B8AFF"/>
                </a:solidFill>
              </a:rPr>
              <a:t>Rule Engine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" y="2971800"/>
            <a:ext cx="232257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</a:rPr>
              <a:t>13 deterministic rules (R1–R13), each with points, name, and human-readable reason. Every alert is fully auditable.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691640"/>
            <a:ext cx="2651760" cy="3017520"/>
          </a:xfrm>
          <a:prstGeom prst="rect">
            <a:avLst/>
          </a:prstGeom>
          <a:solidFill>
            <a:srgbClr val="111D2B"/>
          </a:solidFill>
          <a:ln w="25400">
            <a:solidFill>
              <a:srgbClr val="FFB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691640"/>
            <a:ext cx="2651760" cy="64008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8105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[ML]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91840" y="23317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020"/>
                </a:solidFill>
              </a:rPr>
              <a:t>Adaptive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B020"/>
                </a:solidFill>
              </a:rPr>
              <a:t>ML Layer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64992" y="2971800"/>
            <a:ext cx="232257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</a:rPr>
              <a:t>IsolationForest (300 trees) + calibrated LogisticRegression. Catches behavioural anomalies rules may miss without labels.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691640"/>
            <a:ext cx="2651760" cy="3017520"/>
          </a:xfrm>
          <a:prstGeom prst="rect">
            <a:avLst/>
          </a:prstGeom>
          <a:solidFill>
            <a:srgbClr val="111D2B"/>
          </a:solidFill>
          <a:ln w="25400">
            <a:solidFill>
              <a:srgbClr val="E929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691640"/>
            <a:ext cx="2651760" cy="64008"/>
          </a:xfrm>
          <a:prstGeom prst="rect">
            <a:avLst/>
          </a:prstGeom>
          <a:solidFill>
            <a:srgbClr val="E9293D"/>
          </a:solidFill>
          <a:ln w="12700">
            <a:solidFill>
              <a:srgbClr val="E929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8105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[M]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26480" y="23317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293D"/>
                </a:solidFill>
              </a:rPr>
              <a:t>Attack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9293D"/>
                </a:solidFill>
              </a:rPr>
              <a:t>Intelligence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99632" y="2971800"/>
            <a:ext cx="232257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</a:rPr>
              <a:t>MITRE ATT&amp;CK mapping, 30-day forecasting, campaign detection, population UEBA, drift wave detection.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5AE"/>
                </a:solidFill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261872" cy="256032"/>
          </a:xfrm>
          <a:prstGeom prst="roundRect">
            <a:avLst>
              <a:gd name="adj" fmla="val 21429"/>
            </a:avLst>
          </a:prstGeom>
          <a:solidFill>
            <a:srgbClr val="5B8AFF">
              <a:alpha val="30000"/>
            </a:srgbClr>
          </a:solidFill>
          <a:ln w="12700">
            <a:solidFill>
              <a:srgbClr val="5B8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8AFF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 &amp; Detection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280160" cy="1097280"/>
          </a:xfrm>
          <a:prstGeom prst="rect">
            <a:avLst/>
          </a:prstGeom>
          <a:solidFill>
            <a:srgbClr val="111D2B"/>
          </a:solidFill>
          <a:ln w="19050">
            <a:solidFill>
              <a:srgbClr val="8295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1280160" cy="54864"/>
          </a:xfrm>
          <a:prstGeom prst="rect">
            <a:avLst/>
          </a:prstGeom>
          <a:solidFill>
            <a:srgbClr val="8295AE"/>
          </a:solidFill>
          <a:ln w="12700">
            <a:solidFill>
              <a:srgbClr val="8295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447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295AE"/>
                </a:solidFill>
              </a:rPr>
              <a:t>INGEST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792224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EF7"/>
                </a:solidFill>
              </a:rPr>
              <a:t>CSV + JSONL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8EEF7"/>
                </a:solidFill>
              </a:rPr>
              <a:t>baselines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572768" y="1920240"/>
            <a:ext cx="146304" cy="0"/>
          </a:xfrm>
          <a:prstGeom prst="line">
            <a:avLst/>
          </a:prstGeom>
          <a:noFill/>
          <a:ln w="19050">
            <a:solidFill>
              <a:srgbClr val="829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1371600"/>
            <a:ext cx="1280160" cy="1097280"/>
          </a:xfrm>
          <a:prstGeom prst="rect">
            <a:avLst/>
          </a:prstGeom>
          <a:solidFill>
            <a:srgbClr val="111D2B"/>
          </a:solidFill>
          <a:ln w="19050">
            <a:solidFill>
              <a:srgbClr val="5B8A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737360" y="1371600"/>
            <a:ext cx="1280160" cy="54864"/>
          </a:xfrm>
          <a:prstGeom prst="rect">
            <a:avLst/>
          </a:prstGeom>
          <a:solidFill>
            <a:srgbClr val="5B8AFF"/>
          </a:solidFill>
          <a:ln w="12700">
            <a:solidFill>
              <a:srgbClr val="5B8A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83080" y="14447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8AFF"/>
                </a:solidFill>
              </a:rPr>
              <a:t>NORMALIZE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83080" y="1792224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EF7"/>
                </a:solidFill>
              </a:rPr>
              <a:t>Drift semantics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8EEF7"/>
                </a:solidFill>
              </a:rPr>
              <a:t>Exposure windows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8EEF7"/>
                </a:solidFill>
              </a:rPr>
              <a:t>Dirty data repair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035808" y="1920240"/>
            <a:ext cx="146304" cy="0"/>
          </a:xfrm>
          <a:prstGeom prst="line">
            <a:avLst/>
          </a:prstGeom>
          <a:noFill/>
          <a:ln w="19050">
            <a:solidFill>
              <a:srgbClr val="829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371600"/>
            <a:ext cx="1280160" cy="1097280"/>
          </a:xfrm>
          <a:prstGeom prst="rect">
            <a:avLst/>
          </a:prstGeom>
          <a:solidFill>
            <a:srgbClr val="111D2B"/>
          </a:solidFill>
          <a:ln w="19050">
            <a:solidFill>
              <a:srgbClr val="FFB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371600"/>
            <a:ext cx="1280160" cy="54864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4447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020"/>
                </a:solidFill>
              </a:rPr>
              <a:t>RULE ENGINE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B020"/>
                </a:solidFill>
              </a:rPr>
              <a:t>R1–R13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46120" y="1792224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EF7"/>
                </a:solidFill>
              </a:rPr>
              <a:t>+35 baseline weakened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8EEF7"/>
                </a:solidFill>
              </a:rPr>
              <a:t>+28 stale temporary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8EEF7"/>
                </a:solidFill>
              </a:rPr>
              <a:t>+18 open exposure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8EEF7"/>
                </a:solidFill>
              </a:rPr>
              <a:t>+14 UEBA anomaly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498848" y="1920240"/>
            <a:ext cx="146304" cy="0"/>
          </a:xfrm>
          <a:prstGeom prst="line">
            <a:avLst/>
          </a:prstGeom>
          <a:noFill/>
          <a:ln w="19050">
            <a:solidFill>
              <a:srgbClr val="8295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371600"/>
            <a:ext cx="1280160" cy="1097280"/>
          </a:xfrm>
          <a:prstGeom prst="rect">
            <a:avLst/>
          </a:prstGeom>
          <a:solidFill>
            <a:srgbClr val="111D2B"/>
          </a:solidFill>
          <a:ln w="1905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371600"/>
            <a:ext cx="128016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4447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5B6"/>
                </a:solidFill>
              </a:rPr>
              <a:t>ML LAYER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09160" y="1792224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EF7"/>
                </a:solidFill>
              </a:rPr>
              <a:t>IsolationForest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8EEF7"/>
                </a:solidFill>
              </a:rPr>
              <a:t>300 trees · 14 features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8EEF7"/>
                </a:solidFill>
              </a:rPr>
              <a:t>+ LogisticRegression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961888" y="1920240"/>
            <a:ext cx="146304" cy="0"/>
          </a:xfrm>
          <a:prstGeom prst="line">
            <a:avLst/>
          </a:prstGeom>
          <a:noFill/>
          <a:ln w="19050">
            <a:solidFill>
              <a:srgbClr val="8295A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1371600"/>
            <a:ext cx="1280160" cy="1097280"/>
          </a:xfrm>
          <a:prstGeom prst="rect">
            <a:avLst/>
          </a:prstGeom>
          <a:solidFill>
            <a:srgbClr val="111D2B"/>
          </a:solidFill>
          <a:ln w="19050">
            <a:solidFill>
              <a:srgbClr val="2FD4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1371600"/>
            <a:ext cx="1280160" cy="54864"/>
          </a:xfrm>
          <a:prstGeom prst="rect">
            <a:avLst/>
          </a:prstGeom>
          <a:solidFill>
            <a:srgbClr val="2FD48F"/>
          </a:solidFill>
          <a:ln w="12700">
            <a:solidFill>
              <a:srgbClr val="2FD4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14447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D48F"/>
                </a:solidFill>
              </a:rPr>
              <a:t>FUSION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FD48F"/>
                </a:solidFill>
              </a:rPr>
              <a:t>&amp; SCORE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72200" y="1792224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EF7"/>
                </a:solidFill>
              </a:rPr>
              <a:t>rules (cap 80)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8EEF7"/>
                </a:solidFill>
              </a:rPr>
              <a:t>+ 15× ML anomaly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8EEF7"/>
                </a:solidFill>
              </a:rPr>
              <a:t>per-family thresholds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424928" y="1920240"/>
            <a:ext cx="146304" cy="0"/>
          </a:xfrm>
          <a:prstGeom prst="line">
            <a:avLst/>
          </a:prstGeom>
          <a:noFill/>
          <a:ln w="19050">
            <a:solidFill>
              <a:srgbClr val="8295A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1371600"/>
            <a:ext cx="1280160" cy="1097280"/>
          </a:xfrm>
          <a:prstGeom prst="rect">
            <a:avLst/>
          </a:prstGeom>
          <a:solidFill>
            <a:srgbClr val="111D2B"/>
          </a:solidFill>
          <a:ln w="19050">
            <a:solidFill>
              <a:srgbClr val="E929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589520" y="1371600"/>
            <a:ext cx="1280160" cy="54864"/>
          </a:xfrm>
          <a:prstGeom prst="rect">
            <a:avLst/>
          </a:prstGeom>
          <a:solidFill>
            <a:srgbClr val="E9293D"/>
          </a:solidFill>
          <a:ln w="12700">
            <a:solidFill>
              <a:srgbClr val="E929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14447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293D"/>
                </a:solidFill>
              </a:rPr>
              <a:t>ATTACK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9293D"/>
                </a:solidFill>
              </a:rPr>
              <a:t>INTEL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35240" y="1792224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EF7"/>
                </a:solidFill>
              </a:rPr>
              <a:t>MITRE · Forecast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8EEF7"/>
                </a:solidFill>
              </a:rPr>
              <a:t>Campaigns · UEBA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8EEF7"/>
                </a:solidFill>
              </a:rPr>
              <a:t>Hot Controls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74320" y="2834640"/>
            <a:ext cx="4114800" cy="1188720"/>
          </a:xfrm>
          <a:prstGeom prst="rect">
            <a:avLst/>
          </a:prstGeom>
          <a:solidFill>
            <a:srgbClr val="111D2B"/>
          </a:solidFill>
          <a:ln w="12700">
            <a:solidFill>
              <a:srgbClr val="5B8A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" y="2880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8AFF"/>
                </a:solidFill>
              </a:rPr>
              <a:t>Detection vs Priority — Two-Score Design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3218688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293D"/>
                </a:solidFill>
              </a:rPr>
              <a:t>risk_score</a:t>
            </a:r>
            <a:pPr indent="0" marL="0">
              <a:buNone/>
            </a:pPr>
            <a:r>
              <a:rPr lang="en-US" sz="900" dirty="0">
                <a:solidFill>
                  <a:srgbClr val="E8EEF7"/>
                </a:solidFill>
              </a:rPr>
              <a:t> — Was this change risky when it happened? Remediation does not excuse past risk.
</a:t>
            </a:r>
            <a:pPr indent="0" marL="0">
              <a:buNone/>
            </a:pPr>
            <a:r>
              <a:rPr lang="en-US" sz="900" b="1" dirty="0">
                <a:solidFill>
                  <a:srgbClr val="2FD48F"/>
                </a:solidFill>
              </a:rPr>
              <a:t>priority_score</a:t>
            </a:r>
            <a:pPr indent="0" marL="0">
              <a:buNone/>
            </a:pPr>
            <a:r>
              <a:rPr lang="en-US" sz="900" dirty="0">
                <a:solidFill>
                  <a:srgbClr val="E8EEF7"/>
                </a:solidFill>
              </a:rPr>
              <a:t> — How urgent is this alert right now? Remediated drifts drop in queue.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0" y="2834640"/>
            <a:ext cx="4297680" cy="1188720"/>
          </a:xfrm>
          <a:prstGeom prst="rect">
            <a:avLst/>
          </a:prstGeom>
          <a:solidFill>
            <a:srgbClr val="111D2B"/>
          </a:solidFill>
          <a:ln w="12700">
            <a:solidFill>
              <a:srgbClr val="2FD4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54880" y="2880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D48F"/>
                </a:solidFill>
              </a:rPr>
              <a:t>API Layer — FastAPI + WebSocket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0" y="321868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7"/>
                </a:solidFill>
              </a:rPr>
              <a:t>GET /api/alerts  ·  GET /api/attack-intel  ·  GET /api/summary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EF7"/>
                </a:solidFill>
              </a:rPr>
              <a:t>POST /api/ingest (real-time, &lt;200ms)  ·  POST /api/simulate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EF7"/>
                </a:solidFill>
              </a:rPr>
              <a:t>WS /ws/stream (live event replay)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5AE"/>
                </a:solidFill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591056" cy="256032"/>
          </a:xfrm>
          <a:prstGeom prst="roundRect">
            <a:avLst>
              <a:gd name="adj" fmla="val 21429"/>
            </a:avLst>
          </a:prstGeom>
          <a:solidFill>
            <a:srgbClr val="5B8AFF">
              <a:alpha val="30000"/>
            </a:srgbClr>
          </a:solidFill>
          <a:ln w="12700">
            <a:solidFill>
              <a:srgbClr val="5B8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8AFF"/>
                </a:solidFill>
              </a:rPr>
              <a:t>DETECTION ENGINE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Explainable Rule Engine — R1 to R13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530352"/>
          </a:xfrm>
          <a:prstGeom prst="rect">
            <a:avLst/>
          </a:prstGeom>
          <a:solidFill>
            <a:srgbClr val="111D2B"/>
          </a:solidFill>
          <a:ln w="12700">
            <a:solidFill>
              <a:srgbClr val="E929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502920" cy="530352"/>
          </a:xfrm>
          <a:prstGeom prst="rect">
            <a:avLst/>
          </a:prstGeom>
          <a:solidFill>
            <a:srgbClr val="E9293D">
              <a:alpha val="30000"/>
            </a:srgbClr>
          </a:solidFill>
          <a:ln w="12700">
            <a:solidFill>
              <a:srgbClr val="E929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293D"/>
                </a:solidFill>
              </a:rPr>
              <a:t>R1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32688" y="13258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</a:rPr>
              <a:t>Baseline Weakened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703320" y="130759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9293D"/>
                </a:solidFill>
              </a:rPr>
              <a:t>+35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847088"/>
            <a:ext cx="4114800" cy="530352"/>
          </a:xfrm>
          <a:prstGeom prst="rect">
            <a:avLst/>
          </a:prstGeom>
          <a:solidFill>
            <a:srgbClr val="111D2B"/>
          </a:solidFill>
          <a:ln w="12700">
            <a:solidFill>
              <a:srgbClr val="E929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47088"/>
            <a:ext cx="502920" cy="530352"/>
          </a:xfrm>
          <a:prstGeom prst="rect">
            <a:avLst/>
          </a:prstGeom>
          <a:solidFill>
            <a:srgbClr val="E9293D">
              <a:alpha val="30000"/>
            </a:srgbClr>
          </a:solidFill>
          <a:ln w="12700">
            <a:solidFill>
              <a:srgbClr val="E929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47088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293D"/>
                </a:solidFill>
              </a:rPr>
              <a:t>R7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2688" y="19385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</a:rPr>
              <a:t>Stale Temporary Change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703320" y="192024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9293D"/>
                </a:solidFill>
              </a:rPr>
              <a:t>+28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459736"/>
            <a:ext cx="4114800" cy="530352"/>
          </a:xfrm>
          <a:prstGeom prst="rect">
            <a:avLst/>
          </a:prstGeom>
          <a:solidFill>
            <a:srgbClr val="111D2B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59736"/>
            <a:ext cx="502920" cy="530352"/>
          </a:xfrm>
          <a:prstGeom prst="rect">
            <a:avLst/>
          </a:prstGeom>
          <a:solidFill>
            <a:srgbClr val="FFB020">
              <a:alpha val="30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459736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020"/>
                </a:solidFill>
              </a:rPr>
              <a:t>R2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32688" y="255117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</a:rPr>
              <a:t>Destructive Change Type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703320" y="253288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B020"/>
                </a:solidFill>
              </a:rPr>
              <a:t>+20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072384"/>
            <a:ext cx="4114800" cy="530352"/>
          </a:xfrm>
          <a:prstGeom prst="rect">
            <a:avLst/>
          </a:prstGeom>
          <a:solidFill>
            <a:srgbClr val="111D2B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072384"/>
            <a:ext cx="502920" cy="530352"/>
          </a:xfrm>
          <a:prstGeom prst="rect">
            <a:avLst/>
          </a:prstGeom>
          <a:solidFill>
            <a:srgbClr val="FFB020">
              <a:alpha val="30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072384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020"/>
                </a:solidFill>
              </a:rPr>
              <a:t>R11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2688" y="316382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</a:rPr>
              <a:t>Open Exposure Window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703320" y="314553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B020"/>
                </a:solidFill>
              </a:rPr>
              <a:t>+18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685032"/>
            <a:ext cx="4114800" cy="530352"/>
          </a:xfrm>
          <a:prstGeom prst="rect">
            <a:avLst/>
          </a:prstGeom>
          <a:solidFill>
            <a:srgbClr val="111D2B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685032"/>
            <a:ext cx="502920" cy="530352"/>
          </a:xfrm>
          <a:prstGeom prst="rect">
            <a:avLst/>
          </a:prstGeom>
          <a:solidFill>
            <a:srgbClr val="FFB020">
              <a:alpha val="30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685032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020"/>
                </a:solidFill>
              </a:rPr>
              <a:t>R3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32688" y="37764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</a:rPr>
              <a:t>Critical Control Family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703320" y="375818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B020"/>
                </a:solidFill>
              </a:rPr>
              <a:t>+15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297680"/>
            <a:ext cx="4114800" cy="530352"/>
          </a:xfrm>
          <a:prstGeom prst="rect">
            <a:avLst/>
          </a:prstGeom>
          <a:solidFill>
            <a:srgbClr val="111D2B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297680"/>
            <a:ext cx="502920" cy="530352"/>
          </a:xfrm>
          <a:prstGeom prst="rect">
            <a:avLst/>
          </a:prstGeom>
          <a:solidFill>
            <a:srgbClr val="FFB020">
              <a:alpha val="30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29768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020"/>
                </a:solidFill>
              </a:rPr>
              <a:t>R4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32688" y="43891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</a:rPr>
              <a:t>Self-Approved (SoD violation)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703320" y="437083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B020"/>
                </a:solidFill>
              </a:rPr>
              <a:t>+15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54880" y="1234440"/>
            <a:ext cx="4114800" cy="530352"/>
          </a:xfrm>
          <a:prstGeom prst="rect">
            <a:avLst/>
          </a:prstGeom>
          <a:solidFill>
            <a:srgbClr val="111D2B"/>
          </a:solidFill>
          <a:ln w="12700">
            <a:solidFill>
              <a:srgbClr val="5B8A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1234440"/>
            <a:ext cx="502920" cy="530352"/>
          </a:xfrm>
          <a:prstGeom prst="rect">
            <a:avLst/>
          </a:prstGeom>
          <a:solidFill>
            <a:srgbClr val="5B8AFF">
              <a:alpha val="30000"/>
            </a:srgbClr>
          </a:solidFill>
          <a:ln w="12700">
            <a:solidFill>
              <a:srgbClr val="5B8A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123444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8AFF"/>
                </a:solidFill>
              </a:rPr>
              <a:t>R13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21808" y="13258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</a:rPr>
              <a:t>UEBA Population Timing Anomaly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092440" y="130759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8AFF"/>
                </a:solidFill>
              </a:rPr>
              <a:t>+14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54880" y="1847088"/>
            <a:ext cx="4114800" cy="530352"/>
          </a:xfrm>
          <a:prstGeom prst="rect">
            <a:avLst/>
          </a:prstGeom>
          <a:solidFill>
            <a:srgbClr val="111D2B"/>
          </a:solidFill>
          <a:ln w="12700">
            <a:solidFill>
              <a:srgbClr val="5B8A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1847088"/>
            <a:ext cx="502920" cy="530352"/>
          </a:xfrm>
          <a:prstGeom prst="rect">
            <a:avLst/>
          </a:prstGeom>
          <a:solidFill>
            <a:srgbClr val="5B8AFF">
              <a:alpha val="30000"/>
            </a:srgbClr>
          </a:solidFill>
          <a:ln w="12700">
            <a:solidFill>
              <a:srgbClr val="5B8A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1847088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8AFF"/>
                </a:solidFill>
              </a:rPr>
              <a:t>R8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21808" y="19385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</a:rPr>
              <a:t>Unresolved Drift State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092440" y="192024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8AFF"/>
                </a:solidFill>
              </a:rPr>
              <a:t>+14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754880" y="2459736"/>
            <a:ext cx="4114800" cy="530352"/>
          </a:xfrm>
          <a:prstGeom prst="rect">
            <a:avLst/>
          </a:prstGeom>
          <a:solidFill>
            <a:srgbClr val="111D2B"/>
          </a:solidFill>
          <a:ln w="12700">
            <a:solidFill>
              <a:srgbClr val="5B8A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54880" y="2459736"/>
            <a:ext cx="502920" cy="530352"/>
          </a:xfrm>
          <a:prstGeom prst="rect">
            <a:avLst/>
          </a:prstGeom>
          <a:solidFill>
            <a:srgbClr val="5B8AFF">
              <a:alpha val="30000"/>
            </a:srgbClr>
          </a:solidFill>
          <a:ln w="12700">
            <a:solidFill>
              <a:srgbClr val="5B8A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2459736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8AFF"/>
                </a:solidFill>
              </a:rPr>
              <a:t>R10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321808" y="255117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</a:rPr>
              <a:t>Weakened + Unresolved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092440" y="253288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8AFF"/>
                </a:solidFill>
              </a:rPr>
              <a:t>+12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754880" y="3072384"/>
            <a:ext cx="4114800" cy="530352"/>
          </a:xfrm>
          <a:prstGeom prst="rect">
            <a:avLst/>
          </a:prstGeom>
          <a:solidFill>
            <a:srgbClr val="111D2B"/>
          </a:solidFill>
          <a:ln w="12700">
            <a:solidFill>
              <a:srgbClr val="8295A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0" y="3072384"/>
            <a:ext cx="502920" cy="530352"/>
          </a:xfrm>
          <a:prstGeom prst="rect">
            <a:avLst/>
          </a:prstGeom>
          <a:solidFill>
            <a:srgbClr val="8295AE">
              <a:alpha val="30000"/>
            </a:srgbClr>
          </a:solidFill>
          <a:ln w="12700">
            <a:solidFill>
              <a:srgbClr val="8295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3072384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295AE"/>
                </a:solidFill>
              </a:rPr>
              <a:t>R5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321808" y="316382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</a:rPr>
              <a:t>Suspicious Timing (off-hours)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092440" y="314553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295AE"/>
                </a:solidFill>
              </a:rPr>
              <a:t>+8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754880" y="3685032"/>
            <a:ext cx="4114800" cy="530352"/>
          </a:xfrm>
          <a:prstGeom prst="rect">
            <a:avLst/>
          </a:prstGeom>
          <a:solidFill>
            <a:srgbClr val="111D2B"/>
          </a:solidFill>
          <a:ln w="12700">
            <a:solidFill>
              <a:srgbClr val="2FD48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54880" y="3685032"/>
            <a:ext cx="502920" cy="530352"/>
          </a:xfrm>
          <a:prstGeom prst="rect">
            <a:avLst/>
          </a:prstGeom>
          <a:solidFill>
            <a:srgbClr val="2FD48F">
              <a:alpha val="30000"/>
            </a:srgbClr>
          </a:solidFill>
          <a:ln w="12700">
            <a:solidFill>
              <a:srgbClr val="2FD48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0" y="3685032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D48F"/>
                </a:solidFill>
              </a:rPr>
              <a:t>R9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321808" y="37764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</a:rPr>
              <a:t>Mitigation Credit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8092440" y="375818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FD48F"/>
                </a:solidFill>
              </a:rPr>
              <a:t>−10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4754880" y="4297680"/>
            <a:ext cx="4114800" cy="530352"/>
          </a:xfrm>
          <a:prstGeom prst="rect">
            <a:avLst/>
          </a:prstGeom>
          <a:solidFill>
            <a:srgbClr val="111D2B"/>
          </a:solidFill>
          <a:ln w="12700">
            <a:solidFill>
              <a:srgbClr val="2FD48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54880" y="4297680"/>
            <a:ext cx="502920" cy="530352"/>
          </a:xfrm>
          <a:prstGeom prst="rect">
            <a:avLst/>
          </a:prstGeom>
          <a:solidFill>
            <a:srgbClr val="2FD48F">
              <a:alpha val="30000"/>
            </a:srgbClr>
          </a:solidFill>
          <a:ln w="12700">
            <a:solidFill>
              <a:srgbClr val="2FD48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0" y="429768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D48F"/>
                </a:solidFill>
              </a:rPr>
              <a:t>R12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321808" y="43891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</a:rPr>
              <a:t>Verified-Resolved Non-Critical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8092440" y="437083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FD48F"/>
                </a:solidFill>
              </a:rPr>
              <a:t>−14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95AE"/>
                </a:solidFill>
              </a:rPr>
              <a:t>Fusion: risk_score = min(100, rule_pts_capped_80 + 15 × ML_anomaly)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5AE"/>
                </a:solidFill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50392" cy="256032"/>
          </a:xfrm>
          <a:prstGeom prst="roundRect">
            <a:avLst>
              <a:gd name="adj" fmla="val 21429"/>
            </a:avLst>
          </a:prstGeom>
          <a:solidFill>
            <a:srgbClr val="5B8AFF">
              <a:alpha val="30000"/>
            </a:srgbClr>
          </a:solidFill>
          <a:ln w="12700">
            <a:solidFill>
              <a:srgbClr val="5B8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8AFF"/>
                </a:solidFill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 on 1,000-Event Dataset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920240" cy="1737360"/>
          </a:xfrm>
          <a:prstGeom prst="rect">
            <a:avLst/>
          </a:prstGeom>
          <a:solidFill>
            <a:srgbClr val="111D2B"/>
          </a:solidFill>
          <a:ln w="19050">
            <a:solidFill>
              <a:srgbClr val="2FD4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1920240" cy="45720"/>
          </a:xfrm>
          <a:prstGeom prst="rect">
            <a:avLst/>
          </a:prstGeom>
          <a:solidFill>
            <a:srgbClr val="2FD48F"/>
          </a:solidFill>
          <a:ln w="12700">
            <a:solidFill>
              <a:srgbClr val="2FD4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89888"/>
            <a:ext cx="1737360" cy="781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D48F"/>
                </a:solidFill>
              </a:rPr>
              <a:t>95.7%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114093"/>
            <a:ext cx="1737360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EF7"/>
                </a:solidFill>
              </a:rPr>
              <a:t>Detection Rate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5831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95AE"/>
                </a:solidFill>
              </a:rPr>
              <a:t>Target: &gt; 80%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14600" y="1280160"/>
            <a:ext cx="1920240" cy="1737360"/>
          </a:xfrm>
          <a:prstGeom prst="rect">
            <a:avLst/>
          </a:prstGeom>
          <a:solidFill>
            <a:srgbClr val="111D2B"/>
          </a:solidFill>
          <a:ln w="19050">
            <a:solidFill>
              <a:srgbClr val="5B8A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280160"/>
            <a:ext cx="1920240" cy="45720"/>
          </a:xfrm>
          <a:prstGeom prst="rect">
            <a:avLst/>
          </a:prstGeom>
          <a:solidFill>
            <a:srgbClr val="5B8AFF"/>
          </a:solidFill>
          <a:ln w="12700">
            <a:solidFill>
              <a:srgbClr val="5B8A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389888"/>
            <a:ext cx="1737360" cy="781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8AFF"/>
                </a:solidFill>
              </a:rPr>
              <a:t>4.8%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06040" y="2114093"/>
            <a:ext cx="1737360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EF7"/>
                </a:solidFill>
              </a:rPr>
              <a:t>False Positive Rate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06040" y="25831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95AE"/>
                </a:solidFill>
              </a:rPr>
              <a:t>Target: &lt; 15%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1280160"/>
            <a:ext cx="1920240" cy="1737360"/>
          </a:xfrm>
          <a:prstGeom prst="rect">
            <a:avLst/>
          </a:prstGeom>
          <a:solidFill>
            <a:srgbClr val="111D2B"/>
          </a:solidFill>
          <a:ln w="19050">
            <a:solidFill>
              <a:srgbClr val="FFB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280160"/>
            <a:ext cx="1920240" cy="4572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389888"/>
            <a:ext cx="1737360" cy="781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020"/>
                </a:solidFill>
              </a:rPr>
              <a:t>94.0%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54880" y="2114093"/>
            <a:ext cx="1737360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EF7"/>
                </a:solidFill>
              </a:rPr>
              <a:t>Precision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25831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95AE"/>
                </a:solidFill>
              </a:rPr>
              <a:t>—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12280" y="1280160"/>
            <a:ext cx="1920240" cy="1737360"/>
          </a:xfrm>
          <a:prstGeom prst="rect">
            <a:avLst/>
          </a:prstGeom>
          <a:solidFill>
            <a:srgbClr val="111D2B"/>
          </a:solidFill>
          <a:ln w="1905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1280160"/>
            <a:ext cx="192024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1389888"/>
            <a:ext cx="1737360" cy="781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5B6"/>
                </a:solidFill>
              </a:rPr>
              <a:t>0.95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903720" y="2114093"/>
            <a:ext cx="1737360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EF7"/>
                </a:solidFill>
              </a:rPr>
              <a:t>F1 Score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03720" y="25831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95AE"/>
                </a:solidFill>
              </a:rPr>
              <a:t>—</a:t>
            </a:r>
            <a:endParaRPr lang="en-US" sz="8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365760" y="3200400"/>
          <a:ext cx="50292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3200400"/>
          <a:ext cx="3383280" cy="173736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Criterion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DriftGuard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EF7"/>
                          </a:solidFill>
                        </a:rPr>
                        <a:t>Detection Rate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EF7"/>
                          </a:solidFill>
                        </a:rPr>
                        <a:t>&gt; 80%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EF7"/>
                          </a:solidFill>
                        </a:rPr>
                        <a:t>95.7% 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EF7"/>
                          </a:solidFill>
                        </a:rPr>
                        <a:t>False Positive Rate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EF7"/>
                          </a:solidFill>
                        </a:rPr>
                        <a:t>&lt; 15%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EF7"/>
                          </a:solidFill>
                        </a:rPr>
                        <a:t>4.8% 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EF7"/>
                          </a:solidFill>
                        </a:rPr>
                        <a:t>Time Lag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EF7"/>
                          </a:solidFill>
                        </a:rPr>
                        <a:t>&lt; 1 hour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EF7"/>
                          </a:solidFill>
                        </a:rPr>
                        <a:t>&lt; 200ms 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EF7"/>
                          </a:solidFill>
                        </a:rPr>
                        <a:t>Explainability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EF7"/>
                          </a:solidFill>
                        </a:rPr>
                        <a:t>Per alert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EF7"/>
                          </a:solidFill>
                        </a:rPr>
                        <a:t>Rule + MITRE 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</a:tr>
            </a:tbl>
          </a:graphicData>
        </a:graphic>
      </p:graphicFrame>
      <p:sp>
        <p:nvSpPr>
          <p:cNvPr id="27" name="Text 2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5AE"/>
                </a:solidFill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37944" cy="256032"/>
          </a:xfrm>
          <a:prstGeom prst="roundRect">
            <a:avLst>
              <a:gd name="adj" fmla="val 21429"/>
            </a:avLst>
          </a:prstGeom>
          <a:solidFill>
            <a:srgbClr val="5B8AFF">
              <a:alpha val="30000"/>
            </a:srgbClr>
          </a:solidFill>
          <a:ln w="12700">
            <a:solidFill>
              <a:srgbClr val="5B8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8AFF"/>
                </a:solidFill>
              </a:rPr>
              <a:t>ATTACK INTELLIGENCE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Beyond Detection: ATT&amp;CK Intelligence Layer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51760" cy="1691640"/>
          </a:xfrm>
          <a:prstGeom prst="rect">
            <a:avLst/>
          </a:prstGeom>
          <a:solidFill>
            <a:srgbClr val="111D2B"/>
          </a:solidFill>
          <a:ln w="12700">
            <a:solidFill>
              <a:srgbClr val="E929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54864" cy="1691640"/>
          </a:xfrm>
          <a:prstGeom prst="rect">
            <a:avLst/>
          </a:prstGeom>
          <a:solidFill>
            <a:srgbClr val="E9293D"/>
          </a:solidFill>
          <a:ln w="12700">
            <a:solidFill>
              <a:srgbClr val="E929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075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[M]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0352" y="167335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293D"/>
                </a:solidFill>
              </a:rPr>
              <a:t>MITRE ATT&amp;CK Mapping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947672"/>
            <a:ext cx="239572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5AE"/>
                </a:solidFill>
              </a:rPr>
              <a:t>Every flagged event mapped to ATT&amp;CK technique (T1562.002, T1098, T1600, T1078). Interactive kill-chain tactic heat strip.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651760" cy="1691640"/>
          </a:xfrm>
          <a:prstGeom prst="rect">
            <a:avLst/>
          </a:prstGeom>
          <a:solidFill>
            <a:srgbClr val="111D2B"/>
          </a:solidFill>
          <a:ln w="12700">
            <a:solidFill>
              <a:srgbClr val="FFB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34440"/>
            <a:ext cx="54864" cy="169164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3075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[F]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64992" y="167335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020"/>
                </a:solidFill>
              </a:rPr>
              <a:t>30-Day Drift Forecast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64992" y="1947672"/>
            <a:ext cx="239572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5AE"/>
                </a:solidFill>
              </a:rPr>
              <a:t>Linear regression on 52 weeks of per-family flag rates. Predicts which families will worsen before they breach.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35040" y="1234440"/>
            <a:ext cx="2651760" cy="1691640"/>
          </a:xfrm>
          <a:prstGeom prst="rect">
            <a:avLst/>
          </a:prstGeom>
          <a:solidFill>
            <a:srgbClr val="111D2B"/>
          </a:solidFill>
          <a:ln w="12700">
            <a:solidFill>
              <a:srgbClr val="5B8A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234440"/>
            <a:ext cx="54864" cy="1691640"/>
          </a:xfrm>
          <a:prstGeom prst="rect">
            <a:avLst/>
          </a:prstGeom>
          <a:solidFill>
            <a:srgbClr val="5B8AFF"/>
          </a:solidFill>
          <a:ln w="12700">
            <a:solidFill>
              <a:srgbClr val="5B8A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13075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[X]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99632" y="167335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8AFF"/>
                </a:solidFill>
              </a:rPr>
              <a:t>Incident Campaigns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99632" y="1947672"/>
            <a:ext cx="239572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5AE"/>
                </a:solidFill>
              </a:rPr>
              <a:t>10 named attack campaigns detected — correlated events promoted from individual alerts to threat clusters with MITRE mapping.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063240"/>
            <a:ext cx="2651760" cy="1691640"/>
          </a:xfrm>
          <a:prstGeom prst="rect">
            <a:avLst/>
          </a:prstGeom>
          <a:solidFill>
            <a:srgbClr val="111D2B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063240"/>
            <a:ext cx="54864" cy="1691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1363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[U]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0352" y="350215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</a:rPr>
              <a:t>Population UEBA (R13)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" y="3776472"/>
            <a:ext cx="239572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5AE"/>
                </a:solidFill>
              </a:rPr>
              <a:t>Flags changes at unusual hours (&gt;2.5σ from population norm per family+change_type). No per-user history needed.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0" y="3063240"/>
            <a:ext cx="2651760" cy="1691640"/>
          </a:xfrm>
          <a:prstGeom prst="rect">
            <a:avLst/>
          </a:prstGeom>
          <a:solidFill>
            <a:srgbClr val="111D2B"/>
          </a:solidFill>
          <a:ln w="12700">
            <a:solidFill>
              <a:srgbClr val="2FD4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3063240"/>
            <a:ext cx="54864" cy="1691640"/>
          </a:xfrm>
          <a:prstGeom prst="rect">
            <a:avLst/>
          </a:prstGeom>
          <a:solidFill>
            <a:srgbClr val="2FD48F"/>
          </a:solidFill>
          <a:ln w="12700">
            <a:solidFill>
              <a:srgbClr val="2FD4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31363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[W]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364992" y="350215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D48F"/>
                </a:solidFill>
              </a:rPr>
              <a:t>Drift Wave Detection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64992" y="3776472"/>
            <a:ext cx="239572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5AE"/>
                </a:solidFill>
              </a:rPr>
              <a:t>8 surge weeks identified — org-wide flag rate exceeding 6-week rolling mean by ≥1.2σ. Systemic events, not noise.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35040" y="3063240"/>
            <a:ext cx="2651760" cy="1691640"/>
          </a:xfrm>
          <a:prstGeom prst="rect">
            <a:avLst/>
          </a:prstGeom>
          <a:solidFill>
            <a:srgbClr val="111D2B"/>
          </a:solidFill>
          <a:ln w="12700">
            <a:solidFill>
              <a:srgbClr val="FFB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3063240"/>
            <a:ext cx="54864" cy="169164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9632" y="31363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[H]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199632" y="350215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020"/>
                </a:solidFill>
              </a:rPr>
              <a:t>Persistent Hot Controls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99632" y="3776472"/>
            <a:ext cx="239572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5AE"/>
                </a:solidFill>
              </a:rPr>
              <a:t>91 controls flagged ≥2× across dataset. Top offender: 10× flagged, avg risk 78.6. Chronic drift requiring sustained remediation.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5AE"/>
                </a:solidFill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37944" cy="256032"/>
          </a:xfrm>
          <a:prstGeom prst="roundRect">
            <a:avLst>
              <a:gd name="adj" fmla="val 21429"/>
            </a:avLst>
          </a:prstGeom>
          <a:solidFill>
            <a:srgbClr val="5B8AFF">
              <a:alpha val="30000"/>
            </a:srgbClr>
          </a:solidFill>
          <a:ln w="12700">
            <a:solidFill>
              <a:srgbClr val="5B8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8AFF"/>
                </a:solidFill>
              </a:rPr>
              <a:t>REAL-TIME DETECTION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Ingest API — &lt;200ms from Change to Alert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206240" cy="3474720"/>
          </a:xfrm>
          <a:prstGeom prst="rect">
            <a:avLst/>
          </a:prstGeom>
          <a:solidFill>
            <a:srgbClr val="070D14"/>
          </a:solidFill>
          <a:ln w="19050">
            <a:solidFill>
              <a:srgbClr val="5B8A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25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AFF"/>
                </a:solidFill>
              </a:rPr>
              <a:t>POST /api/ingest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664208"/>
            <a:ext cx="393192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373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</a:rPr>
              <a:t>  "control_type": "Logging",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</a:rPr>
              <a:t>  "change_type": "Disable",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</a:rPr>
              <a:t>  "change_reason": "Emergency Fix",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</a:rPr>
              <a:t>  "status": "Drifted",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</a:rPr>
              <a:t>  "self_approved": true,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</a:rPr>
              <a:t>  "baseline_enabled": true,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</a:rPr>
              <a:t>  "current_enabled": false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3657600"/>
            <a:ext cx="914400" cy="256032"/>
          </a:xfrm>
          <a:prstGeom prst="rect">
            <a:avLst/>
          </a:prstGeom>
          <a:solidFill>
            <a:srgbClr val="2FD48F">
              <a:alpha val="20000"/>
            </a:srgbClr>
          </a:solidFill>
          <a:ln w="12700">
            <a:solidFill>
              <a:srgbClr val="2FD4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6576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D48F"/>
                </a:solidFill>
              </a:rPr>
              <a:t>⚡ 87ms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0" y="1234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Response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664208"/>
            <a:ext cx="3931920" cy="365760"/>
          </a:xfrm>
          <a:prstGeom prst="rect">
            <a:avLst/>
          </a:prstGeom>
          <a:solidFill>
            <a:srgbClr val="111D2B"/>
          </a:solidFill>
          <a:ln w="6350">
            <a:solidFill>
              <a:srgbClr val="E929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17007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5AE"/>
                </a:solidFill>
              </a:rPr>
              <a:t>risk_score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12280" y="17007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293D"/>
                </a:solidFill>
              </a:rPr>
              <a:t>92.4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2121408"/>
            <a:ext cx="3931920" cy="365760"/>
          </a:xfrm>
          <a:prstGeom prst="rect">
            <a:avLst/>
          </a:prstGeom>
          <a:solidFill>
            <a:srgbClr val="111D2B"/>
          </a:solidFill>
          <a:ln w="6350">
            <a:solidFill>
              <a:srgbClr val="E929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21579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5AE"/>
                </a:solidFill>
              </a:rPr>
              <a:t>predicted_severity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12280" y="21579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293D"/>
                </a:solidFill>
              </a:rPr>
              <a:t>Critical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2578608"/>
            <a:ext cx="3931920" cy="365760"/>
          </a:xfrm>
          <a:prstGeom prst="rect">
            <a:avLst/>
          </a:prstGeom>
          <a:solidFill>
            <a:srgbClr val="111D2B"/>
          </a:solidFill>
          <a:ln w="6350">
            <a:solidFill>
              <a:srgbClr val="E929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26151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5AE"/>
                </a:solidFill>
              </a:rPr>
              <a:t>flagged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12280" y="26151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293D"/>
                </a:solidFill>
              </a:rPr>
              <a:t>true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3035808"/>
            <a:ext cx="3931920" cy="365760"/>
          </a:xfrm>
          <a:prstGeom prst="rect">
            <a:avLst/>
          </a:prstGeom>
          <a:solidFill>
            <a:srgbClr val="111D2B"/>
          </a:solidFill>
          <a:ln w="6350">
            <a:solidFill>
              <a:srgbClr val="FFB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30723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5AE"/>
                </a:solidFill>
              </a:rPr>
              <a:t>rules fired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12280" y="30723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020"/>
                </a:solidFill>
              </a:rPr>
              <a:t>R1, R2, R3, R4, R5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493008"/>
            <a:ext cx="3931920" cy="365760"/>
          </a:xfrm>
          <a:prstGeom prst="rect">
            <a:avLst/>
          </a:prstGeom>
          <a:solidFill>
            <a:srgbClr val="111D2B"/>
          </a:solidFill>
          <a:ln w="6350">
            <a:solidFill>
              <a:srgbClr val="2FD4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35295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5AE"/>
                </a:solidFill>
              </a:rPr>
              <a:t>latency_ms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12280" y="35295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D48F"/>
                </a:solidFill>
              </a:rPr>
              <a:t>87.3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3950208"/>
            <a:ext cx="3931920" cy="365760"/>
          </a:xfrm>
          <a:prstGeom prst="rect">
            <a:avLst/>
          </a:prstGeom>
          <a:solidFill>
            <a:srgbClr val="111D2B"/>
          </a:solidFill>
          <a:ln w="6350">
            <a:solidFill>
              <a:srgbClr val="5B8A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39867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5AE"/>
                </a:solidFill>
              </a:rPr>
              <a:t>compliance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12280" y="39867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AFF"/>
                </a:solidFill>
              </a:rPr>
              <a:t>NIST CM-2, CIS CSC 8.2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4407408"/>
            <a:ext cx="3931920" cy="365760"/>
          </a:xfrm>
          <a:prstGeom prst="rect">
            <a:avLst/>
          </a:prstGeom>
          <a:solidFill>
            <a:srgbClr val="111D2B"/>
          </a:solidFill>
          <a:ln w="6350">
            <a:solidFill>
              <a:srgbClr val="FFB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44439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5AE"/>
                </a:solidFill>
              </a:rPr>
              <a:t>sla_hours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12280" y="44439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020"/>
                </a:solidFill>
              </a:rPr>
              <a:t>4h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5AE"/>
                </a:solidFill>
              </a:rPr>
              <a:t>Integrates with any SIEM, CMDB, or IaC pipeline.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295AE"/>
                </a:solidFill>
              </a:rPr>
              <a:t>PS-02 target: &lt;1 hour  ·  DriftGuard: &lt;200ms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5AE"/>
                </a:solidFill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014984" cy="256032"/>
          </a:xfrm>
          <a:prstGeom prst="roundRect">
            <a:avLst>
              <a:gd name="adj" fmla="val 21429"/>
            </a:avLst>
          </a:prstGeom>
          <a:solidFill>
            <a:srgbClr val="5B8AFF">
              <a:alpha val="30000"/>
            </a:srgbClr>
          </a:solidFill>
          <a:ln w="12700">
            <a:solidFill>
              <a:srgbClr val="5B8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8AFF"/>
                </a:solidFill>
              </a:rPr>
              <a:t>DASHBOARD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 Dashboard — 8 Specialised Views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965960" cy="1645920"/>
          </a:xfrm>
          <a:prstGeom prst="rect">
            <a:avLst/>
          </a:prstGeom>
          <a:solidFill>
            <a:srgbClr val="111D2B"/>
          </a:solidFill>
          <a:ln w="19050">
            <a:solidFill>
              <a:srgbClr val="5B8A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1965960" cy="54864"/>
          </a:xfrm>
          <a:prstGeom prst="rect">
            <a:avLst/>
          </a:prstGeom>
          <a:solidFill>
            <a:srgbClr val="5B8AFF"/>
          </a:solidFill>
          <a:ln w="12700">
            <a:solidFill>
              <a:srgbClr val="5B8A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4416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AFF"/>
                </a:solidFill>
              </a:rPr>
              <a:t>Overview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64792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7"/>
                </a:solidFill>
              </a:rPr>
              <a:t>KPIs · Radar · Timeline · Health grid · Compliance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14600" y="1234440"/>
            <a:ext cx="1965960" cy="1645920"/>
          </a:xfrm>
          <a:prstGeom prst="rect">
            <a:avLst/>
          </a:prstGeom>
          <a:solidFill>
            <a:srgbClr val="111D2B"/>
          </a:solidFill>
          <a:ln w="19050">
            <a:solidFill>
              <a:srgbClr val="E929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234440"/>
            <a:ext cx="1965960" cy="54864"/>
          </a:xfrm>
          <a:prstGeom prst="rect">
            <a:avLst/>
          </a:prstGeom>
          <a:solidFill>
            <a:srgbClr val="E9293D"/>
          </a:solidFill>
          <a:ln w="12700">
            <a:solidFill>
              <a:srgbClr val="E929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34416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293D"/>
                </a:solidFill>
              </a:rPr>
              <a:t>Alert Queue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06040" y="1764792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7"/>
                </a:solidFill>
              </a:rPr>
              <a:t>Risk-sorted · Per-signal drill-down · SLA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1965960" cy="1645920"/>
          </a:xfrm>
          <a:prstGeom prst="rect">
            <a:avLst/>
          </a:prstGeom>
          <a:solidFill>
            <a:srgbClr val="111D2B"/>
          </a:solidFill>
          <a:ln w="19050">
            <a:solidFill>
              <a:srgbClr val="E929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34440"/>
            <a:ext cx="1965960" cy="54864"/>
          </a:xfrm>
          <a:prstGeom prst="rect">
            <a:avLst/>
          </a:prstGeom>
          <a:solidFill>
            <a:srgbClr val="E9293D"/>
          </a:solidFill>
          <a:ln w="12700">
            <a:solidFill>
              <a:srgbClr val="E929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34416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293D"/>
                </a:solidFill>
              </a:rPr>
              <a:t>Attack Intel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764792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7"/>
                </a:solidFill>
              </a:rPr>
              <a:t>MITRE kill chain · 30d forecast · Campaigns · UEBA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12280" y="1234440"/>
            <a:ext cx="1965960" cy="1645920"/>
          </a:xfrm>
          <a:prstGeom prst="rect">
            <a:avLst/>
          </a:prstGeom>
          <a:solidFill>
            <a:srgbClr val="111D2B"/>
          </a:solidFill>
          <a:ln w="19050">
            <a:solidFill>
              <a:srgbClr val="FFB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12280" y="1234440"/>
            <a:ext cx="1965960" cy="54864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134416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020"/>
                </a:solidFill>
              </a:rPr>
              <a:t>Threat Intel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03720" y="1764792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7"/>
                </a:solidFill>
              </a:rPr>
              <a:t>Threat patterns · Risk distribution · Leaderboard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3063240"/>
            <a:ext cx="1965960" cy="1645920"/>
          </a:xfrm>
          <a:prstGeom prst="rect">
            <a:avLst/>
          </a:prstGeom>
          <a:solidFill>
            <a:srgbClr val="111D2B"/>
          </a:solidFill>
          <a:ln w="19050">
            <a:solidFill>
              <a:srgbClr val="2FD4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063240"/>
            <a:ext cx="1965960" cy="54864"/>
          </a:xfrm>
          <a:prstGeom prst="rect">
            <a:avLst/>
          </a:prstGeom>
          <a:solidFill>
            <a:srgbClr val="2FD48F"/>
          </a:solidFill>
          <a:ln w="12700">
            <a:solidFill>
              <a:srgbClr val="2FD4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7296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D48F"/>
                </a:solidFill>
              </a:rPr>
              <a:t>Live Stream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593592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7"/>
                </a:solidFill>
              </a:rPr>
              <a:t>WebSocket replay · Real-time ingest demo form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14600" y="3063240"/>
            <a:ext cx="1965960" cy="1645920"/>
          </a:xfrm>
          <a:prstGeom prst="rect">
            <a:avLst/>
          </a:prstGeom>
          <a:solidFill>
            <a:srgbClr val="111D2B"/>
          </a:solidFill>
          <a:ln w="1905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14600" y="3063240"/>
            <a:ext cx="196596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06040" y="317296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</a:rPr>
              <a:t>What-If Sim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06040" y="3593592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7"/>
                </a:solidFill>
              </a:rPr>
              <a:t>Score hypotheticals incl. 3 PS-02 breach scenarios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3063240"/>
            <a:ext cx="1965960" cy="1645920"/>
          </a:xfrm>
          <a:prstGeom prst="rect">
            <a:avLst/>
          </a:prstGeom>
          <a:solidFill>
            <a:srgbClr val="111D2B"/>
          </a:solidFill>
          <a:ln w="19050">
            <a:solidFill>
              <a:srgbClr val="5B8A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063240"/>
            <a:ext cx="1965960" cy="54864"/>
          </a:xfrm>
          <a:prstGeom prst="rect">
            <a:avLst/>
          </a:prstGeom>
          <a:solidFill>
            <a:srgbClr val="5B8AFF"/>
          </a:solidFill>
          <a:ln w="12700">
            <a:solidFill>
              <a:srgbClr val="5B8A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17296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AFF"/>
                </a:solidFill>
              </a:rPr>
              <a:t>Remediation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3593592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7"/>
                </a:solidFill>
              </a:rPr>
              <a:t>Per-family SOPs · SLA matrix · Downloadable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812280" y="3063240"/>
            <a:ext cx="1965960" cy="1645920"/>
          </a:xfrm>
          <a:prstGeom prst="rect">
            <a:avLst/>
          </a:prstGeom>
          <a:solidFill>
            <a:srgbClr val="111D2B"/>
          </a:solidFill>
          <a:ln w="19050">
            <a:solidFill>
              <a:srgbClr val="8295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12280" y="3063240"/>
            <a:ext cx="1965960" cy="54864"/>
          </a:xfrm>
          <a:prstGeom prst="rect">
            <a:avLst/>
          </a:prstGeom>
          <a:solidFill>
            <a:srgbClr val="8295AE"/>
          </a:solidFill>
          <a:ln w="12700">
            <a:solidFill>
              <a:srgbClr val="8295A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317296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295AE"/>
                </a:solidFill>
              </a:rPr>
              <a:t>Audit Report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03720" y="3593592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7"/>
                </a:solidFill>
              </a:rPr>
              <a:t>Auto-generated markdown report with top drifts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65760" y="4818888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5AE"/>
                </a:solidFill>
              </a:rPr>
              <a:t>Hand-built dark SOC design system · React 18 + Vite + Recharts · No UI kit dependency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5AE"/>
                </a:solidFill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508760" cy="256032"/>
          </a:xfrm>
          <a:prstGeom prst="roundRect">
            <a:avLst>
              <a:gd name="adj" fmla="val 21429"/>
            </a:avLst>
          </a:prstGeom>
          <a:solidFill>
            <a:srgbClr val="5B8AFF">
              <a:alpha val="30000"/>
            </a:srgbClr>
          </a:solidFill>
          <a:ln w="12700">
            <a:solidFill>
              <a:srgbClr val="5B8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8AFF"/>
                </a:solidFill>
              </a:rPr>
              <a:t>DIFFERENTIATORS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Others Won't Build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1170432"/>
          </a:xfrm>
          <a:prstGeom prst="rect">
            <a:avLst/>
          </a:prstGeom>
          <a:solidFill>
            <a:srgbClr val="111D2B"/>
          </a:solidFill>
          <a:ln w="12700">
            <a:solidFill>
              <a:srgbClr val="5B8A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54864" cy="1170432"/>
          </a:xfrm>
          <a:prstGeom prst="rect">
            <a:avLst/>
          </a:prstGeom>
          <a:solidFill>
            <a:srgbClr val="5B8AFF"/>
          </a:solidFill>
          <a:ln w="12700">
            <a:solidFill>
              <a:srgbClr val="5B8A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075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AFF"/>
                </a:solidFill>
              </a:rPr>
              <a:t>Explainable by design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55064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7"/>
                </a:solidFill>
              </a:rPr>
              <a:t>Every alert cites rule ID, name, points, and a human-readable reason derived from PS-02 breach cases. Analysts can act immediately.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114800" cy="1170432"/>
          </a:xfrm>
          <a:prstGeom prst="rect">
            <a:avLst/>
          </a:prstGeom>
          <a:solidFill>
            <a:srgbClr val="111D2B"/>
          </a:solidFill>
          <a:ln w="12700">
            <a:solidFill>
              <a:srgbClr val="FFB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34440"/>
            <a:ext cx="54864" cy="1170432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3075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020"/>
                </a:solidFill>
              </a:rPr>
              <a:t>Two-score architecture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655064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7"/>
                </a:solidFill>
              </a:rPr>
              <a:t>Separate risk_score (historical detection) from priority_score (live queue). Remediated drifts drop in priority without erasing history.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532888"/>
            <a:ext cx="4114800" cy="1170432"/>
          </a:xfrm>
          <a:prstGeom prst="rect">
            <a:avLst/>
          </a:prstGeom>
          <a:solidFill>
            <a:srgbClr val="111D2B"/>
          </a:solidFill>
          <a:ln w="12700">
            <a:solidFill>
              <a:srgbClr val="2FD4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532888"/>
            <a:ext cx="54864" cy="1170432"/>
          </a:xfrm>
          <a:prstGeom prst="rect">
            <a:avLst/>
          </a:prstGeom>
          <a:solidFill>
            <a:srgbClr val="2FD48F"/>
          </a:solidFill>
          <a:ln w="12700">
            <a:solidFill>
              <a:srgbClr val="2FD4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060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D48F"/>
                </a:solidFill>
              </a:rPr>
              <a:t>No ground-truth labels needed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953512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7"/>
                </a:solidFill>
              </a:rPr>
              <a:t>PS-02 provided no labels.csv. DriftGuard derives deterministic labels from the problem taxonomy — documented and reproducible.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2532888"/>
            <a:ext cx="4114800" cy="1170432"/>
          </a:xfrm>
          <a:prstGeom prst="rect">
            <a:avLst/>
          </a:prstGeom>
          <a:solidFill>
            <a:srgbClr val="111D2B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532888"/>
            <a:ext cx="54864" cy="1170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6060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</a:rPr>
              <a:t>CI/CD-aware false positive control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953512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7"/>
                </a:solidFill>
              </a:rPr>
              <a:t>Approved Security Updates without weakening earn mitigation credit — CI/CD deployments don't flood the queue.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831336"/>
            <a:ext cx="4114800" cy="1170432"/>
          </a:xfrm>
          <a:prstGeom prst="rect">
            <a:avLst/>
          </a:prstGeom>
          <a:solidFill>
            <a:srgbClr val="111D2B"/>
          </a:solidFill>
          <a:ln w="12700">
            <a:solidFill>
              <a:srgbClr val="E929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831336"/>
            <a:ext cx="54864" cy="1170432"/>
          </a:xfrm>
          <a:prstGeom prst="rect">
            <a:avLst/>
          </a:prstGeom>
          <a:solidFill>
            <a:srgbClr val="E9293D"/>
          </a:solidFill>
          <a:ln w="12700">
            <a:solidFill>
              <a:srgbClr val="E929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9044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293D"/>
                </a:solidFill>
              </a:rPr>
              <a:t>Population UEBA on sparse data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251960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7"/>
                </a:solidFill>
              </a:rPr>
              <a:t>913 near-unique operators makes per-user UEBA impossible. Population-level timing baseline is the statistically correct approach.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3831336"/>
            <a:ext cx="4114800" cy="1170432"/>
          </a:xfrm>
          <a:prstGeom prst="rect">
            <a:avLst/>
          </a:prstGeom>
          <a:solidFill>
            <a:srgbClr val="111D2B"/>
          </a:solidFill>
          <a:ln w="12700">
            <a:solidFill>
              <a:srgbClr val="FFB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831336"/>
            <a:ext cx="54864" cy="1170432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9044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020"/>
                </a:solidFill>
              </a:rPr>
              <a:t>Attack narrative generation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4251960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7"/>
                </a:solidFill>
              </a:rPr>
              <a:t>Auto-generates plain-English attack assessment: "[PRE-EXFILTRATION PATTERN] Defense Evasion + Privilege Escalation active."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5AE"/>
                </a:solidFill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261872" cy="256032"/>
          </a:xfrm>
          <a:prstGeom prst="roundRect">
            <a:avLst>
              <a:gd name="adj" fmla="val 21429"/>
            </a:avLst>
          </a:prstGeom>
          <a:solidFill>
            <a:srgbClr val="5B8AFF">
              <a:alpha val="30000"/>
            </a:srgbClr>
          </a:solidFill>
          <a:ln w="12700">
            <a:solidFill>
              <a:srgbClr val="5B8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8AFF"/>
                </a:solidFill>
              </a:rPr>
              <a:t>DELIVERABLES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PS-02 Deliverables Checklist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548640"/>
          </a:xfrm>
          <a:prstGeom prst="rect">
            <a:avLst/>
          </a:prstGeom>
          <a:solidFill>
            <a:srgbClr val="111D2B"/>
          </a:solidFill>
          <a:ln w="10160">
            <a:solidFill>
              <a:srgbClr val="2FD4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307592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D48F"/>
                </a:solidFill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27101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Drift Detection Engine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" y="1527048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5AE"/>
                </a:solidFill>
              </a:rPr>
              <a:t>backend/engine/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114800" cy="548640"/>
          </a:xfrm>
          <a:prstGeom prst="rect">
            <a:avLst/>
          </a:prstGeom>
          <a:solidFill>
            <a:srgbClr val="111D2B"/>
          </a:solidFill>
          <a:ln w="10160">
            <a:solidFill>
              <a:srgbClr val="2FD4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1307592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D48F"/>
                </a:solidFill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57800" y="127101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Baseline Configuration Store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257800" y="1527048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5AE"/>
                </a:solidFill>
              </a:rPr>
              <a:t>deliverables/baseline_store.json (104 controls)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1892808"/>
            <a:ext cx="4114800" cy="548640"/>
          </a:xfrm>
          <a:prstGeom prst="rect">
            <a:avLst/>
          </a:prstGeom>
          <a:solidFill>
            <a:srgbClr val="111D2B"/>
          </a:solidFill>
          <a:ln w="10160">
            <a:solidFill>
              <a:srgbClr val="2FD4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965960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D48F"/>
                </a:solidFill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192938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Alert System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68680" y="2185416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5AE"/>
                </a:solidFill>
              </a:rPr>
              <a:t>GET /api/alerts + Alert Queue tab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754880" y="1892808"/>
            <a:ext cx="4114800" cy="548640"/>
          </a:xfrm>
          <a:prstGeom prst="rect">
            <a:avLst/>
          </a:prstGeom>
          <a:solidFill>
            <a:srgbClr val="111D2B"/>
          </a:solidFill>
          <a:ln w="10160">
            <a:solidFill>
              <a:srgbClr val="2FD4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1965960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D48F"/>
                </a:solidFill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192938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Dashboard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257800" y="2185416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5AE"/>
                </a:solidFill>
              </a:rPr>
              <a:t>React 18 SPA — 8 tabs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2551176"/>
            <a:ext cx="4114800" cy="548640"/>
          </a:xfrm>
          <a:prstGeom prst="rect">
            <a:avLst/>
          </a:prstGeom>
          <a:solidFill>
            <a:srgbClr val="111D2B"/>
          </a:solidFill>
          <a:ln w="10160">
            <a:solidFill>
              <a:srgbClr val="2FD4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624328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D48F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258775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Audit Report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68680" y="2843784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5AE"/>
                </a:solidFill>
              </a:rPr>
              <a:t>deliverables/Sample_Audit_Report.md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54880" y="2551176"/>
            <a:ext cx="4114800" cy="548640"/>
          </a:xfrm>
          <a:prstGeom prst="rect">
            <a:avLst/>
          </a:prstGeom>
          <a:solidFill>
            <a:srgbClr val="111D2B"/>
          </a:solidFill>
          <a:ln w="10160">
            <a:solidFill>
              <a:srgbClr val="2FD4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2624328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D48F"/>
                </a:solidFill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57800" y="258775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Remediation Playbook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257800" y="2843784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5AE"/>
                </a:solidFill>
              </a:rPr>
              <a:t>Playbook tab + GET /api/playbook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3209544"/>
            <a:ext cx="4114800" cy="548640"/>
          </a:xfrm>
          <a:prstGeom prst="rect">
            <a:avLst/>
          </a:prstGeom>
          <a:solidFill>
            <a:srgbClr val="111D2B"/>
          </a:solidFill>
          <a:ln w="10160">
            <a:solidFill>
              <a:srgbClr val="2FD4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3282696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D48F"/>
                </a:solidFill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324612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Ground-Truth Labels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68680" y="350215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5AE"/>
                </a:solidFill>
              </a:rPr>
              <a:t>deliverables/config_drift_labels.csv (derived)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3209544"/>
            <a:ext cx="4114800" cy="548640"/>
          </a:xfrm>
          <a:prstGeom prst="rect">
            <a:avLst/>
          </a:prstGeom>
          <a:solidFill>
            <a:srgbClr val="111D2B"/>
          </a:solidFill>
          <a:ln w="10160">
            <a:solidFill>
              <a:srgbClr val="FFB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3282696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020"/>
                </a:solidFill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57800" y="324612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20"/>
                </a:solidFill>
              </a:rPr>
              <a:t>BONUS: MITRE ATT&amp;CK Mapping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257800" y="350215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5AE"/>
                </a:solidFill>
              </a:rPr>
              <a:t>Attack Intel tab + GET /api/attack-intel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5760" y="3867912"/>
            <a:ext cx="4114800" cy="548640"/>
          </a:xfrm>
          <a:prstGeom prst="rect">
            <a:avLst/>
          </a:prstGeom>
          <a:solidFill>
            <a:srgbClr val="111D2B"/>
          </a:solidFill>
          <a:ln w="10160">
            <a:solidFill>
              <a:srgbClr val="FFB0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3941064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020"/>
                </a:solidFill>
              </a:rPr>
              <a:t>✓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68680" y="390448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20"/>
                </a:solidFill>
              </a:rPr>
              <a:t>BONUS: 30-Day Forecast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68680" y="4160520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5AE"/>
                </a:solidFill>
              </a:rPr>
              <a:t>Attack Intel tab — per-family regression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54880" y="3867912"/>
            <a:ext cx="4114800" cy="548640"/>
          </a:xfrm>
          <a:prstGeom prst="rect">
            <a:avLst/>
          </a:prstGeom>
          <a:solidFill>
            <a:srgbClr val="111D2B"/>
          </a:solidFill>
          <a:ln w="10160">
            <a:solidFill>
              <a:srgbClr val="FFB0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3941064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020"/>
                </a:solidFill>
              </a:rPr>
              <a:t>✓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57800" y="390448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20"/>
                </a:solidFill>
              </a:rPr>
              <a:t>BONUS: Real-Time Ingest API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257800" y="4160520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5AE"/>
                </a:solidFill>
              </a:rPr>
              <a:t>POST /api/ingest + Live Stream demo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65760" y="4526280"/>
            <a:ext cx="4114800" cy="548640"/>
          </a:xfrm>
          <a:prstGeom prst="rect">
            <a:avLst/>
          </a:prstGeom>
          <a:solidFill>
            <a:srgbClr val="111D2B"/>
          </a:solidFill>
          <a:ln w="10160">
            <a:solidFill>
              <a:srgbClr val="FFB02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" y="4599432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020"/>
                </a:solidFill>
              </a:rPr>
              <a:t>✓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68680" y="456285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20"/>
                </a:solidFill>
              </a:rPr>
              <a:t>BONUS: What-If Simulator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68680" y="4818888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5AE"/>
                </a:solidFill>
              </a:rPr>
              <a:t>Simulator tab + POST /api/simulate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54880" y="4526280"/>
            <a:ext cx="4114800" cy="548640"/>
          </a:xfrm>
          <a:prstGeom prst="rect">
            <a:avLst/>
          </a:prstGeom>
          <a:solidFill>
            <a:srgbClr val="111D2B"/>
          </a:solidFill>
          <a:ln w="10160">
            <a:solidFill>
              <a:srgbClr val="FFB02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28032" y="4599432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020"/>
                </a:solidFill>
              </a:rPr>
              <a:t>✓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257800" y="456285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20"/>
                </a:solidFill>
              </a:rPr>
              <a:t>BONUS: Incident Campaigns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257800" y="4818888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5AE"/>
                </a:solidFill>
              </a:rPr>
              <a:t>10 named campaigns in Attack Intel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5AE"/>
                </a:solidFill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5B8AFF">
              <a:alpha val="30000"/>
            </a:srgbClr>
          </a:solidFill>
          <a:ln w="12700">
            <a:solidFill>
              <a:srgbClr val="5B8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8AFF"/>
                </a:solidFill>
              </a:rPr>
              <a:t>TECH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51760" cy="1645920"/>
          </a:xfrm>
          <a:prstGeom prst="rect">
            <a:avLst/>
          </a:prstGeom>
          <a:solidFill>
            <a:srgbClr val="111D2B"/>
          </a:solidFill>
          <a:ln w="19050">
            <a:solidFill>
              <a:srgbClr val="5B8A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2651760" cy="54864"/>
          </a:xfrm>
          <a:prstGeom prst="rect">
            <a:avLst/>
          </a:prstGeom>
          <a:solidFill>
            <a:srgbClr val="5B8AFF"/>
          </a:solidFill>
          <a:ln w="12700">
            <a:solidFill>
              <a:srgbClr val="5B8A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898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AFF"/>
                </a:solidFill>
              </a:rPr>
              <a:t>Backend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</a:rPr>
              <a:t>›  Python 3.11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112264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</a:rPr>
              <a:t>›  FastAPI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441448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</a:rPr>
              <a:t>›  WebSocket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51760" cy="1645920"/>
          </a:xfrm>
          <a:prstGeom prst="rect">
            <a:avLst/>
          </a:prstGeom>
          <a:solidFill>
            <a:srgbClr val="111D2B"/>
          </a:solidFill>
          <a:ln w="19050">
            <a:solidFill>
              <a:srgbClr val="FFB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280160"/>
            <a:ext cx="2651760" cy="54864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3898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0"/>
                </a:solidFill>
              </a:rPr>
              <a:t>ML / Detection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1783080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</a:rPr>
              <a:t>›  scikit-learn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112264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</a:rPr>
              <a:t>›  IsolationForest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2441448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</a:rPr>
              <a:t>›  LogisticRegression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280160"/>
            <a:ext cx="2651760" cy="1645920"/>
          </a:xfrm>
          <a:prstGeom prst="rect">
            <a:avLst/>
          </a:prstGeom>
          <a:solidFill>
            <a:srgbClr val="111D2B"/>
          </a:solidFill>
          <a:ln w="1905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280160"/>
            <a:ext cx="265176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3898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</a:rPr>
              <a:t>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1783080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</a:rPr>
              <a:t>›  pandas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72200" y="2112264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</a:rPr>
              <a:t>›  numpy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72200" y="2441448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</a:rPr>
              <a:t>›  14 engineered features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108960"/>
            <a:ext cx="2651760" cy="1645920"/>
          </a:xfrm>
          <a:prstGeom prst="rect">
            <a:avLst/>
          </a:prstGeom>
          <a:solidFill>
            <a:srgbClr val="111D2B"/>
          </a:solidFill>
          <a:ln w="19050">
            <a:solidFill>
              <a:srgbClr val="2FD4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108960"/>
            <a:ext cx="2651760" cy="54864"/>
          </a:xfrm>
          <a:prstGeom prst="rect">
            <a:avLst/>
          </a:prstGeom>
          <a:solidFill>
            <a:srgbClr val="2FD48F"/>
          </a:solidFill>
          <a:ln w="12700">
            <a:solidFill>
              <a:srgbClr val="2FD4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2186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D48F"/>
                </a:solidFill>
              </a:rPr>
              <a:t>Frontend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3611880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</a:rPr>
              <a:t>›  React 18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3941064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</a:rPr>
              <a:t>›  Vite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270248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</a:rPr>
              <a:t>›  Recharts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3108960"/>
            <a:ext cx="2651760" cy="1645920"/>
          </a:xfrm>
          <a:prstGeom prst="rect">
            <a:avLst/>
          </a:prstGeom>
          <a:solidFill>
            <a:srgbClr val="111D2B"/>
          </a:solidFill>
          <a:ln w="19050">
            <a:solidFill>
              <a:srgbClr val="E929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3108960"/>
            <a:ext cx="2651760" cy="54864"/>
          </a:xfrm>
          <a:prstGeom prst="rect">
            <a:avLst/>
          </a:prstGeom>
          <a:solidFill>
            <a:srgbClr val="E9293D"/>
          </a:solidFill>
          <a:ln w="12700">
            <a:solidFill>
              <a:srgbClr val="E929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32186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293D"/>
                </a:solidFill>
              </a:rPr>
              <a:t>Testing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37560" y="3611880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</a:rPr>
              <a:t>›  pytest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37560" y="3941064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</a:rPr>
              <a:t>›  24 tests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37560" y="4270248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</a:rPr>
              <a:t>›  DR/FPR/Precision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35040" y="3108960"/>
            <a:ext cx="2651760" cy="1645920"/>
          </a:xfrm>
          <a:prstGeom prst="rect">
            <a:avLst/>
          </a:prstGeom>
          <a:solidFill>
            <a:srgbClr val="111D2B"/>
          </a:solidFill>
          <a:ln w="19050">
            <a:solidFill>
              <a:srgbClr val="8295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35040" y="3108960"/>
            <a:ext cx="2651760" cy="54864"/>
          </a:xfrm>
          <a:prstGeom prst="rect">
            <a:avLst/>
          </a:prstGeom>
          <a:solidFill>
            <a:srgbClr val="8295AE"/>
          </a:solidFill>
          <a:ln w="12700">
            <a:solidFill>
              <a:srgbClr val="8295A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32186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295AE"/>
                </a:solidFill>
              </a:rPr>
              <a:t>Deployment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72200" y="3611880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</a:rPr>
              <a:t>›  Docker multi-stage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72200" y="3941064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</a:rPr>
              <a:t>›  Node 20 Alpine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72200" y="4270248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</a:rPr>
              <a:t>›  Python 3.11 slim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D48F"/>
                </a:solidFill>
              </a:rPr>
              <a:t>24 / 24 tests passing  ·  DR 95.7%  ·  FPR 4.8%  ·  Precision 94.0%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5AE"/>
                </a:solidFill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D48F"/>
          </a:solidFill>
          <a:ln w="12700">
            <a:solidFill>
              <a:srgbClr val="2FD4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DriftGuard</a:t>
            </a:r>
            <a:endParaRPr lang="en-US" sz="6400" dirty="0"/>
          </a:p>
        </p:txBody>
      </p:sp>
      <p:sp>
        <p:nvSpPr>
          <p:cNvPr id="24" name="Text 22"/>
          <p:cNvSpPr/>
          <p:nvPr/>
        </p:nvSpPr>
        <p:spPr>
          <a:xfrm>
            <a:off x="457200" y="1600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7"/>
                </a:solidFill>
              </a:rPr>
              <a:t>40% of breaches start with misconfiguration.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EF7"/>
                </a:solidFill>
              </a:rPr>
              <a:t>DriftGuard finds them in under 200 milliseconds.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2651760"/>
            <a:ext cx="1874520" cy="1463040"/>
          </a:xfrm>
          <a:prstGeom prst="rect">
            <a:avLst/>
          </a:prstGeom>
          <a:solidFill>
            <a:srgbClr val="111D2B"/>
          </a:solidFill>
          <a:ln w="19050">
            <a:solidFill>
              <a:srgbClr val="2FD4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2651760"/>
            <a:ext cx="1874520" cy="45720"/>
          </a:xfrm>
          <a:prstGeom prst="rect">
            <a:avLst/>
          </a:prstGeom>
          <a:solidFill>
            <a:srgbClr val="2FD48F"/>
          </a:solidFill>
          <a:ln w="12700">
            <a:solidFill>
              <a:srgbClr val="2FD4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761488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D48F"/>
                </a:solidFill>
              </a:rPr>
              <a:t>95.7%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48640" y="3354019"/>
            <a:ext cx="1691640" cy="409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EF7"/>
                </a:solidFill>
              </a:rPr>
              <a:t>Detection Rate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0" y="2651760"/>
            <a:ext cx="1874520" cy="1463040"/>
          </a:xfrm>
          <a:prstGeom prst="rect">
            <a:avLst/>
          </a:prstGeom>
          <a:solidFill>
            <a:srgbClr val="111D2B"/>
          </a:solidFill>
          <a:ln w="19050">
            <a:solidFill>
              <a:srgbClr val="5B8A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0" y="2651760"/>
            <a:ext cx="1874520" cy="45720"/>
          </a:xfrm>
          <a:prstGeom prst="rect">
            <a:avLst/>
          </a:prstGeom>
          <a:solidFill>
            <a:srgbClr val="5B8AFF"/>
          </a:solidFill>
          <a:ln w="12700">
            <a:solidFill>
              <a:srgbClr val="5B8A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1760" y="2761488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8AFF"/>
                </a:solidFill>
              </a:rPr>
              <a:t>4.8%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2651760" y="3354019"/>
            <a:ext cx="1691640" cy="409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EF7"/>
                </a:solidFill>
              </a:rPr>
              <a:t>False Positives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2651760"/>
            <a:ext cx="1874520" cy="1463040"/>
          </a:xfrm>
          <a:prstGeom prst="rect">
            <a:avLst/>
          </a:prstGeom>
          <a:solidFill>
            <a:srgbClr val="111D2B"/>
          </a:solidFill>
          <a:ln w="19050">
            <a:solidFill>
              <a:srgbClr val="FFB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651760"/>
            <a:ext cx="1874520" cy="4572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761488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020"/>
                </a:solidFill>
              </a:rPr>
              <a:t>94.0%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4754880" y="3354019"/>
            <a:ext cx="1691640" cy="409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EF7"/>
                </a:solidFill>
              </a:rPr>
              <a:t>Precision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66560" y="2651760"/>
            <a:ext cx="1874520" cy="1463040"/>
          </a:xfrm>
          <a:prstGeom prst="rect">
            <a:avLst/>
          </a:prstGeom>
          <a:solidFill>
            <a:srgbClr val="111D2B"/>
          </a:solidFill>
          <a:ln w="19050">
            <a:solidFill>
              <a:srgbClr val="E929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766560" y="2651760"/>
            <a:ext cx="1874520" cy="45720"/>
          </a:xfrm>
          <a:prstGeom prst="rect">
            <a:avLst/>
          </a:prstGeom>
          <a:solidFill>
            <a:srgbClr val="E9293D"/>
          </a:solidFill>
          <a:ln w="12700">
            <a:solidFill>
              <a:srgbClr val="E929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0" y="2761488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293D"/>
                </a:solidFill>
              </a:rPr>
              <a:t>&lt;200ms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6858000" y="3354019"/>
            <a:ext cx="1691640" cy="409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EF7"/>
                </a:solidFill>
              </a:rPr>
              <a:t>Time to Alert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295AE"/>
                </a:solidFill>
              </a:rPr>
              <a:t>Thank you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5AE"/>
                </a:solidFill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DriftGuard — PS-02 Hackathon</dc:title>
  <dc:subject>PptxGenJS Presentation</dc:subject>
  <dc:creator>DriftGuard Team</dc:creator>
  <cp:lastModifiedBy>DriftGuard Team</cp:lastModifiedBy>
  <cp:revision>1</cp:revision>
  <dcterms:created xsi:type="dcterms:W3CDTF">2026-06-13T21:28:23Z</dcterms:created>
  <dcterms:modified xsi:type="dcterms:W3CDTF">2026-06-13T21:28:23Z</dcterms:modified>
</cp:coreProperties>
</file>